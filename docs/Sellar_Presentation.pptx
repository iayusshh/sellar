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0" y="-1371600"/>
            <a:ext cx="7315200" cy="5486400"/>
          </a:xfrm>
          <a:prstGeom prst="ellipse">
            <a:avLst/>
          </a:prstGeom>
          <a:solidFill>
            <a:srgbClr val="140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640080" cy="640080"/>
          </a:xfrm>
          <a:prstGeom prst="round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9692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Sellar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108960" cy="292608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73936"/>
            <a:ext cx="28895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🚀  Creator Monetization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Sell Digital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A78BFA"/>
                </a:solidFill>
              </a:rPr>
              <a:t>&amp; Webinars, Effortlessly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77639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India's creator-first marketplace. Launch your storefront, list digital products,
schedule webinars, and get paid — all in under 2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92861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7608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Product Types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4892040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492861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₹0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27608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Setup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892040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492861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INR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27608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Payments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4892040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492861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527608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Creator Keeps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822960"/>
            <a:ext cx="4846320" cy="5486400"/>
          </a:xfrm>
          <a:prstGeom prst="roundRect">
            <a:avLst>
              <a:gd name="adj" fmla="val 8000"/>
            </a:avLst>
          </a:prstGeom>
          <a:solidFill>
            <a:srgbClr val="0D0D14"/>
          </a:solidFill>
          <a:ln w="1905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66560" y="822960"/>
            <a:ext cx="4846320" cy="384048"/>
          </a:xfrm>
          <a:prstGeom prst="roundRect">
            <a:avLst>
              <a:gd name="adj" fmla="val 8000"/>
            </a:avLst>
          </a:prstGeom>
          <a:solidFill>
            <a:srgbClr val="10101A"/>
          </a:solidFill>
          <a:ln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31152" y="950976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32320" y="950976"/>
            <a:ext cx="109728" cy="109728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33488" y="950976"/>
            <a:ext cx="109728" cy="109728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16368" y="896112"/>
            <a:ext cx="3474720" cy="246888"/>
          </a:xfrm>
          <a:prstGeom prst="roundRect">
            <a:avLst>
              <a:gd name="adj" fmla="val 8000"/>
            </a:avLst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89611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🔒  sellar.app/ayush</a:t>
            </a:r>
          </a:p>
        </p:txBody>
      </p:sp>
      <p:sp>
        <p:nvSpPr>
          <p:cNvPr id="31" name="Oval 30"/>
          <p:cNvSpPr/>
          <p:nvPr/>
        </p:nvSpPr>
        <p:spPr>
          <a:xfrm>
            <a:off x="7040880" y="1389888"/>
            <a:ext cx="640080" cy="64008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13898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0688" y="14264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Ayush Anand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16824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@ayush · Finance &amp; Tech Creator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67728" y="2194560"/>
            <a:ext cx="1426464" cy="2103120"/>
          </a:xfrm>
          <a:prstGeom prst="roundRect">
            <a:avLst>
              <a:gd name="adj" fmla="val 8000"/>
            </a:avLst>
          </a:prstGeom>
          <a:solidFill>
            <a:srgbClr val="10101A"/>
          </a:solidFill>
          <a:ln w="12700">
            <a:solidFill>
              <a:srgbClr val="22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40880" y="228600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228600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3364992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Stock Course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9168" y="36393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₹999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3950208"/>
            <a:ext cx="1243584" cy="23774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9168" y="3950208"/>
            <a:ext cx="1243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Buy Now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67344" y="2194560"/>
            <a:ext cx="1426464" cy="2103120"/>
          </a:xfrm>
          <a:prstGeom prst="roundRect">
            <a:avLst>
              <a:gd name="adj" fmla="val 8000"/>
            </a:avLst>
          </a:prstGeom>
          <a:solidFill>
            <a:srgbClr val="10101A"/>
          </a:solidFill>
          <a:ln w="12700">
            <a:solidFill>
              <a:srgbClr val="22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540496" y="228600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0496" y="228600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58784" y="3364992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IPO Framework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58784" y="36393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₹599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3950208"/>
            <a:ext cx="1243584" cy="23774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58784" y="3950208"/>
            <a:ext cx="1243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Buy Now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66960" y="2194560"/>
            <a:ext cx="1426464" cy="2103120"/>
          </a:xfrm>
          <a:prstGeom prst="roundRect">
            <a:avLst>
              <a:gd name="adj" fmla="val 8000"/>
            </a:avLst>
          </a:prstGeom>
          <a:solidFill>
            <a:srgbClr val="10101A"/>
          </a:solidFill>
          <a:ln w="12700">
            <a:solidFill>
              <a:srgbClr val="22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040112" y="228600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40112" y="228600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⚛️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3364992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React Mastery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36393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₹799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3950208"/>
            <a:ext cx="1243584" cy="23774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0" y="3950208"/>
            <a:ext cx="1243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Buy Now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67728" y="4434840"/>
            <a:ext cx="4443984" cy="640080"/>
          </a:xfrm>
          <a:prstGeom prst="roundRect">
            <a:avLst>
              <a:gd name="adj" fmla="val 8000"/>
            </a:avLst>
          </a:prstGeom>
          <a:solidFill>
            <a:srgbClr val="181100"/>
          </a:solidFill>
          <a:ln w="12700">
            <a:solidFill>
              <a:srgbClr val="60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86600" y="4498847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🎙️  LIVE WEBINAR · May 1,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600" y="477316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Advanced Options Trading  —  ₹799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560320" cy="292608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✨  Platform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Everything You Need to Monetize Your Expertise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From storefront creation to payment processing — Sellar handles the entire commerce lifecycle.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3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201168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23744"/>
            <a:ext cx="3163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Instant Storefront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834640"/>
            <a:ext cx="316382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Personalized URL at sellar.app/yourhandle in seconds. No design skills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3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8848" y="201168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0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01168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523744"/>
            <a:ext cx="3163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Cashfree Checkout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834640"/>
            <a:ext cx="316382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Built-in UPI, net banking, cards &amp; wallets via Cashfree Drop-in modal.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3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47888" y="201168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01168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523744"/>
            <a:ext cx="3163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Webinar Scheduling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834640"/>
            <a:ext cx="316382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Schedule live sessions with capacity limits &amp; auto-generated join tokens.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02152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3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9808" y="368503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0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85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97096"/>
            <a:ext cx="3163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Creator Wallet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507992"/>
            <a:ext cx="316382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Earnings land in wallet instantly. Withdraw via UPI, IMPS, or bank transfer.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502152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3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98848" y="368503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3685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4197096"/>
            <a:ext cx="3163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Analytics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4507992"/>
            <a:ext cx="316382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Track earnings, transactions, visitors, and demographics in real time.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502152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3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47888" y="368503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3685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4197096"/>
            <a:ext cx="3163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Row-Level 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4507992"/>
            <a:ext cx="316382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PostgreSQL RLS policies — data isolated at DB layer, not client.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175504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3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9808" y="5358384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3583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5870448"/>
            <a:ext cx="3163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Buyer Library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6181344"/>
            <a:ext cx="316382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Personal library with download links &amp; webinar join buttons after purchase.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0" y="5175504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3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498848" y="5358384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98848" y="53583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98848" y="5870448"/>
            <a:ext cx="3163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Featured Creators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8848" y="6181344"/>
            <a:ext cx="316382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Admin-curated Top Creators listing drives organic discovery.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5175504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32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47888" y="5358384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0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47888" y="53583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5870448"/>
            <a:ext cx="3163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Commission Split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47888" y="6181344"/>
            <a:ext cx="316382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Atomic PostgreSQL transaction: 80% creator, 20% platform — race-condition safe.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194560" cy="292608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👤  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to Join Sellar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Two account types — Buyer or Creator. The entire process takes under 2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303520" cy="4846320"/>
          </a:xfrm>
          <a:prstGeom prst="roundRect">
            <a:avLst>
              <a:gd name="adj" fmla="val 8000"/>
            </a:avLst>
          </a:prstGeom>
          <a:solidFill>
            <a:srgbClr val="00121A"/>
          </a:solidFill>
          <a:ln w="15240">
            <a:solidFill>
              <a:srgbClr val="0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303520" cy="402336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0891B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🛍️  Buyer Account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2633472"/>
            <a:ext cx="25400" cy="713232"/>
          </a:xfrm>
          <a:prstGeom prst="rect">
            <a:avLst/>
          </a:prstGeom>
          <a:solidFill>
            <a:srgbClr val="2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313432"/>
            <a:ext cx="329184" cy="329184"/>
          </a:xfrm>
          <a:prstGeom prst="ellipse">
            <a:avLst/>
          </a:prstGeom>
          <a:gradFill rotWithShape="1">
            <a:gsLst>
              <a:gs pos="0">
                <a:srgbClr val="06B6D4"/>
              </a:gs>
              <a:gs pos="100000">
                <a:srgbClr val="06608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1343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2860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Visit /auth/signup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560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Enter your email address and choose a secure password.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" y="3621024"/>
            <a:ext cx="25400" cy="713232"/>
          </a:xfrm>
          <a:prstGeom prst="rect">
            <a:avLst/>
          </a:prstGeom>
          <a:solidFill>
            <a:srgbClr val="2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300984"/>
            <a:ext cx="329184" cy="329184"/>
          </a:xfrm>
          <a:prstGeom prst="ellipse">
            <a:avLst/>
          </a:prstGeom>
          <a:gradFill rotWithShape="1">
            <a:gsLst>
              <a:gs pos="0">
                <a:srgbClr val="06B6D4"/>
              </a:gs>
              <a:gs pos="100000">
                <a:srgbClr val="06608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0098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2735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Verify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547872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Click the link in your inbox. Supabase Auth handles verification instantly.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992" y="4608576"/>
            <a:ext cx="25400" cy="713232"/>
          </a:xfrm>
          <a:prstGeom prst="rect">
            <a:avLst/>
          </a:prstGeom>
          <a:solidFill>
            <a:srgbClr val="2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288536"/>
            <a:ext cx="329184" cy="329184"/>
          </a:xfrm>
          <a:prstGeom prst="ellipse">
            <a:avLst/>
          </a:prstGeom>
          <a:gradFill rotWithShape="1">
            <a:gsLst>
              <a:gs pos="0">
                <a:srgbClr val="06B6D4"/>
              </a:gs>
              <a:gs pos="100000">
                <a:srgbClr val="06608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8853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26110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Browse Storefronts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535424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Discover creators, explore products, purchase with one click.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5276088"/>
            <a:ext cx="329184" cy="329184"/>
          </a:xfrm>
          <a:prstGeom prst="ellipse">
            <a:avLst/>
          </a:prstGeom>
          <a:gradFill rotWithShape="1">
            <a:gsLst>
              <a:gs pos="0">
                <a:srgbClr val="06B6D4"/>
              </a:gs>
              <a:gs pos="100000">
                <a:srgbClr val="06608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2760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524865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Access /library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522976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All purchased products appear with download links &amp; webinar join buttons.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173736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0E0722"/>
          </a:solidFill>
          <a:ln w="1524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1737360"/>
            <a:ext cx="5394960" cy="402336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6D28D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0488" y="173736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🚀  Creator Account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2633472"/>
            <a:ext cx="25400" cy="713232"/>
          </a:xfrm>
          <a:prstGeom prst="rect">
            <a:avLst/>
          </a:prstGeom>
          <a:solidFill>
            <a:srgbClr val="3C1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64808" y="2313432"/>
            <a:ext cx="329184" cy="32918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8" y="231343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0296" y="22860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Visit /become-a-creator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0296" y="2560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Available to new users and existing buyers upgrading to creator.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3621024"/>
            <a:ext cx="25400" cy="713232"/>
          </a:xfrm>
          <a:prstGeom prst="rect">
            <a:avLst/>
          </a:prstGeom>
          <a:solidFill>
            <a:srgbClr val="3C1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64808" y="3300984"/>
            <a:ext cx="329184" cy="32918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4808" y="330098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0296" y="32735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Choose Your @handle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0296" y="35478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Pick a unique handle — becomes your public storefront URL. Real-time availability check.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0840" y="4608576"/>
            <a:ext cx="25400" cy="713232"/>
          </a:xfrm>
          <a:prstGeom prst="rect">
            <a:avLst/>
          </a:prstGeom>
          <a:solidFill>
            <a:srgbClr val="3C1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64808" y="4288536"/>
            <a:ext cx="329184" cy="32918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64808" y="428853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0296" y="42611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Complete Your Profile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0296" y="453542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Add display name, bio, avatar, phone, and social links (Instagram, X, LinkedIn, Website).</a:t>
            </a:r>
          </a:p>
        </p:txBody>
      </p:sp>
      <p:sp>
        <p:nvSpPr>
          <p:cNvPr id="47" name="Oval 46"/>
          <p:cNvSpPr/>
          <p:nvPr/>
        </p:nvSpPr>
        <p:spPr>
          <a:xfrm>
            <a:off x="6464808" y="5276088"/>
            <a:ext cx="329184" cy="329184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64808" y="52760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0296" y="524865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Storefront Goes Live!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0296" y="552297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Your public storefront is instantly accessible. Share the link &amp; start listing products.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194560" cy="292608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👥  User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Three Roles, One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Every user has a clearly scoped role — with route guards enforcing access at the app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474720" cy="4846320"/>
          </a:xfrm>
          <a:prstGeom prst="roundRect">
            <a:avLst>
              <a:gd name="adj" fmla="val 8000"/>
            </a:avLst>
          </a:prstGeom>
          <a:solidFill>
            <a:srgbClr val="001A22"/>
          </a:solidFill>
          <a:ln w="19050">
            <a:solidFill>
              <a:srgbClr val="0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474720" cy="475488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06608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🛍️ Buyer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40864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414016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450592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Browse all creator storefronts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99232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072384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108960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Purchase products via Cashfree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730752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76732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Access personal library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1596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38912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425696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Join purchased webinars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74336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04748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⬆️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5084064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Upgrade to creator anytime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32704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05856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742432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ProtectedRoute + GeneralRoute guard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1104" y="1737360"/>
            <a:ext cx="3474720" cy="4846320"/>
          </a:xfrm>
          <a:prstGeom prst="roundRect">
            <a:avLst>
              <a:gd name="adj" fmla="val 8000"/>
            </a:avLst>
          </a:prstGeom>
          <a:solidFill>
            <a:srgbClr val="0E0722"/>
          </a:solidFill>
          <a:ln w="1905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61104" y="1737360"/>
            <a:ext cx="3474720" cy="475488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61104" y="17373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🚀 Creator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3984" y="2340864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2414016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82896" y="2450592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Public storefront at /:handle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43984" y="2999232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53712" y="3072384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2896" y="3108960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CRUD products (4 types)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43984" y="3657600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53712" y="3730752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82896" y="376732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Creator wallet &amp; withdrawals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43984" y="431596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3712" y="438912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4425696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Earnings analytics dashboard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43984" y="4974336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53712" y="504748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82896" y="5084064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Profile &amp; social link settings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43984" y="5632704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53712" y="5705856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2896" y="5742432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CreatorRoute guard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73568" y="1737360"/>
            <a:ext cx="3474720" cy="4846320"/>
          </a:xfrm>
          <a:prstGeom prst="roundRect">
            <a:avLst>
              <a:gd name="adj" fmla="val 8000"/>
            </a:avLst>
          </a:prstGeom>
          <a:solidFill>
            <a:srgbClr val="181000"/>
          </a:solidFill>
          <a:ln w="19050">
            <a:solidFill>
              <a:srgbClr val="78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73568" y="1737360"/>
            <a:ext cx="3474720" cy="475488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7835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73568" y="17373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🛡️ Admin / Owner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56448" y="2340864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66176" y="2414016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2450592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Manage all creators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56448" y="2999232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66176" y="3072384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0" y="3108960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Set per-creator commission rates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56448" y="3657600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66176" y="3730752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0" y="376732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Process withdrawal requests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56448" y="431596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66176" y="438912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0" y="4425696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Platform revenue analytics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56448" y="4974336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66176" y="504748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5084064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Feature &amp; reorder creators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56448" y="5632704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66176" y="5705856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95360" y="5742432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AdminRoute + OwnerRoute guard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194560" cy="292608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📦  Product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Four Types of Digital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Sell anything from downloadable files to live webinar sessions — Sellar supports every format.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1965960"/>
            <a:ext cx="822960" cy="822960"/>
          </a:xfrm>
          <a:prstGeom prst="ellipse">
            <a:avLst/>
          </a:prstGeom>
          <a:solidFill>
            <a:srgbClr val="101020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9659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Digital Downloads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55848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eBooks · PDFs · Templates · Guides · Spreadsheets
Buyers receive an instant download link upon purchase. Upload any file to Supabase Storage — secure, CDN-served.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78308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001A2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2544" y="1965960"/>
            <a:ext cx="822960" cy="822960"/>
          </a:xfrm>
          <a:prstGeom prst="ellipse">
            <a:avLst/>
          </a:prstGeom>
          <a:solidFill>
            <a:srgbClr val="10102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9659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926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Live Webinars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3355848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Scheduled · Capacity Limits · Early-Join Window
Set date, time, max seats, duration, and join window. Secure join tokens auto-generated per verified buyer.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78308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220012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42048" y="1965960"/>
            <a:ext cx="822960" cy="822960"/>
          </a:xfrm>
          <a:prstGeom prst="ellipse">
            <a:avLst/>
          </a:prstGeom>
          <a:solidFill>
            <a:srgbClr val="101020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9659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926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1-on-1 Sessions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55848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Consulting · Coaching · Mentoring
Personal sessions with a booking URL. Buyers get the access link in their library after payment is confirmed.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7152" y="178308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18100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31552" y="1965960"/>
            <a:ext cx="822960" cy="822960"/>
          </a:xfrm>
          <a:prstGeom prst="ellipse">
            <a:avLst/>
          </a:prstGeom>
          <a:solidFill>
            <a:srgbClr val="10102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31552" y="19659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926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Telegram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3355848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Community · Channel · Private Group
Share a private Telegram invite link with verified buyers. Great for premium signal channels and communities.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377440" cy="292608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2157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📦  Creator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to List a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From dashboard to live in under 2 minutes — CRUD products with image upload, pricing, and scheduling.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956816"/>
            <a:ext cx="347472" cy="347472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568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975104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Creator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286000"/>
            <a:ext cx="22128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/creator/products — access from sidebar navigation.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375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3465576"/>
            <a:ext cx="347472" cy="347472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6557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483864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Click 'Add Product'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794760"/>
            <a:ext cx="22128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Opens the product creation modal with all required fields.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463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74336"/>
            <a:ext cx="347472" cy="347472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9743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992624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Choose Product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303520"/>
            <a:ext cx="22128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Digital Download, Webinar, Session, or Telegram Access.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182880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94760" y="1956816"/>
            <a:ext cx="347472" cy="347472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19568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1975104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Fill Details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4528" y="2286000"/>
            <a:ext cx="22128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Title, description, price (INR), image upload, content URL.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33375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94760" y="3465576"/>
            <a:ext cx="347472" cy="347472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346557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3483864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Webinars: Schedule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8" y="3794760"/>
            <a:ext cx="22128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Date/time, max capacity, duration, early-join &amp; late-join window.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48463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794760" y="4974336"/>
            <a:ext cx="347472" cy="347472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49743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4528" y="4992624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Publish — It's Live!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5303520"/>
            <a:ext cx="22128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Appears on storefront instantly. Hide or re-activate without deleting.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1783080"/>
            <a:ext cx="5303520" cy="4892040"/>
          </a:xfrm>
          <a:prstGeom prst="roundRect">
            <a:avLst>
              <a:gd name="adj" fmla="val 8000"/>
            </a:avLst>
          </a:prstGeom>
          <a:solidFill>
            <a:srgbClr val="0D0D14"/>
          </a:solidFill>
          <a:ln w="1524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1783080"/>
            <a:ext cx="5303520" cy="347472"/>
          </a:xfrm>
          <a:prstGeom prst="rect">
            <a:avLst/>
          </a:prstGeom>
          <a:gradFill rotWithShape="1">
            <a:gsLst>
              <a:gs pos="0">
                <a:srgbClr val="10101A"/>
              </a:gs>
              <a:gs pos="100000">
                <a:srgbClr val="10101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629400" y="1892808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12280" y="1892808"/>
            <a:ext cx="109728" cy="109728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995160" y="1892808"/>
            <a:ext cx="109728" cy="109728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185623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🔒  sellar.app/creator/products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2258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My Products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53288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6 products · 3 active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66960" y="2286000"/>
            <a:ext cx="1572768" cy="32918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66960" y="2286000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+ Add Product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75120" y="2898648"/>
            <a:ext cx="4937760" cy="749808"/>
          </a:xfrm>
          <a:prstGeom prst="roundRect">
            <a:avLst>
              <a:gd name="adj" fmla="val 8000"/>
            </a:avLst>
          </a:prstGeom>
          <a:solidFill>
            <a:srgbClr val="10101A"/>
          </a:solidFill>
          <a:ln w="1016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784848" y="3008376"/>
            <a:ext cx="530352" cy="530352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4848" y="3008376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43216" y="29900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Stock Market Course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43216" y="32826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Digital · ₹999 · 47 sales</a:t>
            </a:r>
          </a:p>
        </p:txBody>
      </p:sp>
      <p:sp>
        <p:nvSpPr>
          <p:cNvPr id="52" name="Oval 51"/>
          <p:cNvSpPr/>
          <p:nvPr/>
        </p:nvSpPr>
        <p:spPr>
          <a:xfrm>
            <a:off x="10424160" y="320040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33888" y="313639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Active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75120" y="3767328"/>
            <a:ext cx="4937760" cy="749808"/>
          </a:xfrm>
          <a:prstGeom prst="roundRect">
            <a:avLst>
              <a:gd name="adj" fmla="val 8000"/>
            </a:avLst>
          </a:prstGeom>
          <a:solidFill>
            <a:srgbClr val="10101A"/>
          </a:solidFill>
          <a:ln w="1016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784848" y="3877056"/>
            <a:ext cx="530352" cy="530352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84848" y="3877056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🎙️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43216" y="3858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Options Webinar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43216" y="41513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Webinar · ₹799 · Apr 20 · 30/50 seats</a:t>
            </a:r>
          </a:p>
        </p:txBody>
      </p:sp>
      <p:sp>
        <p:nvSpPr>
          <p:cNvPr id="59" name="Oval 58"/>
          <p:cNvSpPr/>
          <p:nvPr/>
        </p:nvSpPr>
        <p:spPr>
          <a:xfrm>
            <a:off x="10424160" y="4069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33888" y="400507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Upcoming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75120" y="4636008"/>
            <a:ext cx="4937760" cy="749808"/>
          </a:xfrm>
          <a:prstGeom prst="roundRect">
            <a:avLst>
              <a:gd name="adj" fmla="val 8000"/>
            </a:avLst>
          </a:prstGeom>
          <a:solidFill>
            <a:srgbClr val="10101A"/>
          </a:solidFill>
          <a:ln w="1016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784848" y="4745736"/>
            <a:ext cx="530352" cy="530352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84848" y="4745736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43216" y="4727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SaaS Starter Template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43216" y="50200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Digital · ₹1,199 · 23 sales</a:t>
            </a:r>
          </a:p>
        </p:txBody>
      </p:sp>
      <p:sp>
        <p:nvSpPr>
          <p:cNvPr id="66" name="Oval 65"/>
          <p:cNvSpPr/>
          <p:nvPr/>
        </p:nvSpPr>
        <p:spPr>
          <a:xfrm>
            <a:off x="10424160" y="49377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33888" y="487375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Active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675120" y="5504688"/>
            <a:ext cx="4937760" cy="749808"/>
          </a:xfrm>
          <a:prstGeom prst="roundRect">
            <a:avLst>
              <a:gd name="adj" fmla="val 8000"/>
            </a:avLst>
          </a:prstGeom>
          <a:solidFill>
            <a:srgbClr val="10101A"/>
          </a:solidFill>
          <a:ln w="1016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784848" y="5614416"/>
            <a:ext cx="530352" cy="530352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84848" y="5614416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43216" y="55961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Telegram Access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43216" y="58887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Telegram · ₹299 · 18 members</a:t>
            </a:r>
          </a:p>
        </p:txBody>
      </p:sp>
      <p:sp>
        <p:nvSpPr>
          <p:cNvPr id="73" name="Oval 72"/>
          <p:cNvSpPr/>
          <p:nvPr/>
        </p:nvSpPr>
        <p:spPr>
          <a:xfrm>
            <a:off x="10424160" y="580644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33888" y="574243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Active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194560" cy="292608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💳  Buyer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to Purchase a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From storefront to library in under 60 seconds. UPI · Net Banking · Cards · Wallets via Cashfree.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55648"/>
            <a:ext cx="1920240" cy="128016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5856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Browse
Storefront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243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Visit /:handle
Pick a 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3472" y="2383028"/>
            <a:ext cx="237744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2212848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78BFA"/>
                </a:solidFill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4" y="1755648"/>
            <a:ext cx="1920240" cy="128016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18470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25856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Sign In /
Sign 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4" y="26243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Quick auth if
not logged 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4336" y="2383028"/>
            <a:ext cx="237744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74336" y="2212848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78BFA"/>
                </a:solidFill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0368" y="1755648"/>
            <a:ext cx="1920240" cy="1280160"/>
          </a:xfrm>
          <a:prstGeom prst="roundRect">
            <a:avLst>
              <a:gd name="adj" fmla="val 8000"/>
            </a:avLst>
          </a:prstGeom>
          <a:solidFill>
            <a:srgbClr val="140730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18470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225856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Cashfree
Drop-in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26243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UPI / Cards /
Net Banking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383028"/>
            <a:ext cx="237744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2212848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78BFA"/>
                </a:solidFill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71232" y="1755648"/>
            <a:ext cx="1920240" cy="128016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2" y="18470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1232" y="225856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Payment
Verified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2" y="26243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Webhook + polling
6 retries · 2.5s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56064" y="2383028"/>
            <a:ext cx="237744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56064" y="2212848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78BFA"/>
                </a:solidFill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12096" y="1755648"/>
            <a:ext cx="1920240" cy="128016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12096" y="18470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12096" y="225856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Library
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2096" y="26243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Download links
and join buttons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2552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⚙️  Under the Hood — Payment Pipeline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621024"/>
            <a:ext cx="2103120" cy="1115568"/>
          </a:xfrm>
          <a:prstGeom prst="roundRect">
            <a:avLst>
              <a:gd name="adj" fmla="val 8000"/>
            </a:avLst>
          </a:prstGeom>
          <a:solidFill>
            <a:srgbClr val="1407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3749040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🛒 Create Order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133088"/>
            <a:ext cx="18836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Edge Function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98064" y="3621024"/>
            <a:ext cx="2103120" cy="1115568"/>
          </a:xfrm>
          <a:prstGeom prst="roundRect">
            <a:avLst>
              <a:gd name="adj" fmla="val 8000"/>
            </a:avLst>
          </a:prstGeom>
          <a:solidFill>
            <a:srgbClr val="00141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07792" y="3749040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💳 Cashfree UI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7792" y="4133088"/>
            <a:ext cx="18836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Drop-in SDK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47488" y="3621024"/>
            <a:ext cx="2103120" cy="1115568"/>
          </a:xfrm>
          <a:prstGeom prst="roundRect">
            <a:avLst>
              <a:gd name="adj" fmla="val 8000"/>
            </a:avLst>
          </a:prstGeom>
          <a:solidFill>
            <a:srgbClr val="1810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57216" y="3749040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🔄 Verify Order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57216" y="4133088"/>
            <a:ext cx="18836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6 retries / 2.5s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96912" y="3621024"/>
            <a:ext cx="2103120" cy="1115568"/>
          </a:xfrm>
          <a:prstGeom prst="roundRect">
            <a:avLst>
              <a:gd name="adj" fmla="val 8000"/>
            </a:avLst>
          </a:prstGeom>
          <a:solidFill>
            <a:srgbClr val="00140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749040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💰 Commission Split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4133088"/>
            <a:ext cx="18836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80% Creator + 20% Platform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46336" y="3621024"/>
            <a:ext cx="2103120" cy="1115568"/>
          </a:xfrm>
          <a:prstGeom prst="roundRect">
            <a:avLst>
              <a:gd name="adj" fmla="val 8000"/>
            </a:avLst>
          </a:prstGeom>
          <a:solidFill>
            <a:srgbClr val="14073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56064" y="3749040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📚 Library Update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56064" y="4133088"/>
            <a:ext cx="18836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React Query invalidation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90118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Cashfree Drop-In Checkout Modal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212080"/>
            <a:ext cx="5303520" cy="1444752"/>
          </a:xfrm>
          <a:prstGeom prst="roundRect">
            <a:avLst>
              <a:gd name="adj" fmla="val 8000"/>
            </a:avLst>
          </a:prstGeom>
          <a:solidFill>
            <a:srgbClr val="0D0D14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32180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Order: IPO Framework Guide  —  ₹599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650992"/>
            <a:ext cx="1572768" cy="329184"/>
          </a:xfrm>
          <a:prstGeom prst="roundRect">
            <a:avLst>
              <a:gd name="adj" fmla="val 8000"/>
            </a:avLst>
          </a:prstGeom>
          <a:solidFill>
            <a:srgbClr val="1407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650992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📱 UPI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432304" y="5650992"/>
            <a:ext cx="1572768" cy="329184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1270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32304" y="5650992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🏦 Net Banking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33088" y="5650992"/>
            <a:ext cx="1572768" cy="329184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1270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33088" y="5650992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💳 Card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6089904"/>
            <a:ext cx="4937760" cy="384048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608990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Pay ₹599 Securely  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80760" y="490118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Buyer Library (/library)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80760" y="5212080"/>
            <a:ext cx="5897880" cy="1444752"/>
          </a:xfrm>
          <a:prstGeom prst="roundRect">
            <a:avLst>
              <a:gd name="adj" fmla="val 8000"/>
            </a:avLst>
          </a:prstGeom>
          <a:solidFill>
            <a:srgbClr val="0D0D14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263640" y="5303520"/>
            <a:ext cx="1316736" cy="1261872"/>
          </a:xfrm>
          <a:prstGeom prst="roundRect">
            <a:avLst>
              <a:gd name="adj" fmla="val 8000"/>
            </a:avLst>
          </a:prstGeom>
          <a:solidFill>
            <a:srgbClr val="10101A"/>
          </a:solidFill>
          <a:ln w="1016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63640" y="5376672"/>
            <a:ext cx="13167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18504" y="5779008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IPO Framework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73368" y="6089904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05140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73368" y="6089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</a:rPr>
              <a:t>⬇ Download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90104" y="5303520"/>
            <a:ext cx="1316736" cy="1261872"/>
          </a:xfrm>
          <a:prstGeom prst="roundRect">
            <a:avLst>
              <a:gd name="adj" fmla="val 8000"/>
            </a:avLst>
          </a:prstGeom>
          <a:solidFill>
            <a:srgbClr val="10101A"/>
          </a:solidFill>
          <a:ln w="1016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90104" y="5376672"/>
            <a:ext cx="13167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44968" y="5779008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Stock Course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799832" y="6089904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05140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99832" y="6089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</a:rPr>
              <a:t>⬇ Download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116568" y="5303520"/>
            <a:ext cx="1316736" cy="1261872"/>
          </a:xfrm>
          <a:prstGeom prst="roundRect">
            <a:avLst>
              <a:gd name="adj" fmla="val 8000"/>
            </a:avLst>
          </a:prstGeom>
          <a:solidFill>
            <a:srgbClr val="10101A"/>
          </a:solidFill>
          <a:ln w="1016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16568" y="5376672"/>
            <a:ext cx="13167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🎙️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71432" y="5779008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Options Webinar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226296" y="6089904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1810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26296" y="6089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📅 Join Now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543032" y="5303520"/>
            <a:ext cx="1316736" cy="1261872"/>
          </a:xfrm>
          <a:prstGeom prst="roundRect">
            <a:avLst>
              <a:gd name="adj" fmla="val 8000"/>
            </a:avLst>
          </a:prstGeom>
          <a:solidFill>
            <a:srgbClr val="10101A"/>
          </a:solidFill>
          <a:ln w="1016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543032" y="5376672"/>
            <a:ext cx="13167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97896" y="5779008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Telegram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652760" y="6089904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00142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652760" y="6089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B6D4"/>
                </a:solidFill>
              </a:rPr>
              <a:t>🔗 Join Group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560320" cy="292608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📊  Creator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Creator Dashboard &amp; Wallet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Track earnings, manage products, and request withdrawals — all from one unified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33472" cy="987552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0512"/>
            <a:ext cx="23042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Available 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48256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₹28,450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50592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↑ Ready to withdraw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737360"/>
            <a:ext cx="2633472" cy="987552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1810512"/>
            <a:ext cx="23042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Monthly Earnings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048256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₹12,800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2450592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↑ +23% vs last 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737360"/>
            <a:ext cx="2633472" cy="987552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10512"/>
            <a:ext cx="23042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Lifetime Earnings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048256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₹1,24,600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450592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Total since joining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737360"/>
            <a:ext cx="2633472" cy="987552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1810512"/>
            <a:ext cx="23042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Pending Withdrawals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2048256"/>
            <a:ext cx="23042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₹5,000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2450592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Processing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880360"/>
            <a:ext cx="6400800" cy="173736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971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Earnings — Last 7 Months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893515"/>
            <a:ext cx="530352" cy="431596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361688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Oct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92224" y="3731666"/>
            <a:ext cx="530352" cy="593445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92224" y="4361688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Nov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78608" y="3828775"/>
            <a:ext cx="530352" cy="496336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78608" y="4361688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Dec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64992" y="3569817"/>
            <a:ext cx="530352" cy="75529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64992" y="4361688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Jan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51376" y="3656136"/>
            <a:ext cx="530352" cy="668975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1376" y="4361688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Feb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3407968"/>
            <a:ext cx="530352" cy="917143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4361688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Mar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24144" y="3246120"/>
            <a:ext cx="530352" cy="1078992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06B6D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24144" y="4361688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78BFA"/>
                </a:solidFill>
              </a:rPr>
              <a:t>Apr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773168"/>
            <a:ext cx="6400800" cy="1810512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8463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Recent Transactions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12064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Product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512064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Buyer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512064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Amount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512064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Status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512064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Date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349240"/>
            <a:ext cx="6217920" cy="329184"/>
          </a:xfrm>
          <a:prstGeom prst="rect">
            <a:avLst/>
          </a:prstGeom>
          <a:solidFill>
            <a:srgbClr val="10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3766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Stock Market Course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0" y="53766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Rahul M.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53766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₹799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46320" y="5394960"/>
            <a:ext cx="804672" cy="237744"/>
          </a:xfrm>
          <a:prstGeom prst="roundRect">
            <a:avLst>
              <a:gd name="adj" fmla="val 8000"/>
            </a:avLst>
          </a:prstGeom>
          <a:solidFill>
            <a:srgbClr val="00140A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46320" y="539496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Completed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53766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Apr 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7241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SaaS Starter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60320" y="57241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Sneha K.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23360" y="57241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₹959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846320" y="5742432"/>
            <a:ext cx="804672" cy="237744"/>
          </a:xfrm>
          <a:prstGeom prst="roundRect">
            <a:avLst>
              <a:gd name="adj" fmla="val 8000"/>
            </a:avLst>
          </a:prstGeom>
          <a:solidFill>
            <a:srgbClr val="00140A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46320" y="5742432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Completed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0" y="57241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Apr 13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6044184"/>
            <a:ext cx="6217920" cy="329184"/>
          </a:xfrm>
          <a:prstGeom prst="rect">
            <a:avLst/>
          </a:prstGeom>
          <a:solidFill>
            <a:srgbClr val="10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0716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Options Webinar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60320" y="60716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Vikram 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23360" y="60716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₹639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0" y="6089904"/>
            <a:ext cx="804672" cy="237744"/>
          </a:xfrm>
          <a:prstGeom prst="roundRect">
            <a:avLst>
              <a:gd name="adj" fmla="val 8000"/>
            </a:avLst>
          </a:prstGeom>
          <a:solidFill>
            <a:srgbClr val="181000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46320" y="6089904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Pending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60720" y="60716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Apr 12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205472" y="1737360"/>
            <a:ext cx="4572000" cy="2267712"/>
          </a:xfrm>
          <a:prstGeom prst="roundRect">
            <a:avLst>
              <a:gd name="adj" fmla="val 8000"/>
            </a:avLst>
          </a:prstGeom>
          <a:solidFill>
            <a:srgbClr val="100728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06640" y="18470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Available Balance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6640" y="208483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</a:rPr>
              <a:t>₹28,450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6640" y="265176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Ready to withdraw · INR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06640" y="299923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Monthly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06640" y="321868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₹12,800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51392" y="299923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Lifetime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51392" y="321868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₹1,24,600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96144" y="299923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Commission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96144" y="321868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06640" y="363931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Withdraw via: UPI · IMPS/NEFT · Bank Transfer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205472" y="4160520"/>
            <a:ext cx="4572000" cy="237744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88352" y="425196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Creator Navigation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00" y="4544568"/>
            <a:ext cx="4352544" cy="292608"/>
          </a:xfrm>
          <a:prstGeom prst="rect">
            <a:avLst/>
          </a:prstGeom>
          <a:solidFill>
            <a:srgbClr val="1A0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06640" y="458114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📊 Dashboard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06640" y="492861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📦 My Products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06640" y="5276088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💰 Wallet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06640" y="562356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⚙️ Settings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06640" y="597103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🏪 View Storefront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194560" cy="292608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🛡️  Admin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Full Platform Visibility &amp;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8-tab admin portal with creator management, commission control, withdrawal processing, and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353312" cy="347472"/>
          </a:xfrm>
          <a:prstGeom prst="roundRect">
            <a:avLst>
              <a:gd name="adj" fmla="val 8000"/>
            </a:avLst>
          </a:prstGeom>
          <a:solidFill>
            <a:srgbClr val="1A100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</a:rPr>
              <a:t>📊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75104" y="1737360"/>
            <a:ext cx="1353312" cy="347472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016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75104" y="173736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👥 Creators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737360"/>
            <a:ext cx="1353312" cy="347472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016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73736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📦 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8032" y="1737360"/>
            <a:ext cx="1353312" cy="347472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016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2" y="173736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👤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737360"/>
            <a:ext cx="1353312" cy="347472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016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73736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💸 Withdrawals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737360"/>
            <a:ext cx="1353312" cy="347472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016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73736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💹 Commission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1737360"/>
            <a:ext cx="1353312" cy="347472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016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173736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📈 Traffic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33888" y="1737360"/>
            <a:ext cx="1353312" cy="347472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016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33888" y="173736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🗺️ Demographics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212848"/>
            <a:ext cx="2633472" cy="932688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267712"/>
            <a:ext cx="2359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Platform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487168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₹2,48,000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871216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↑ +18% this month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64992" y="2212848"/>
            <a:ext cx="2633472" cy="932688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2267712"/>
            <a:ext cx="2359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Active Creators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2487168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871216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12 featured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2212848"/>
            <a:ext cx="2633472" cy="932688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4" y="2267712"/>
            <a:ext cx="2359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Total Purchases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8504" y="2487168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1,847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8504" y="2871216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↑ +34% this month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7696" y="2212848"/>
            <a:ext cx="2633472" cy="932688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34856" y="2267712"/>
            <a:ext cx="2359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Pending Withdrawals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4856" y="2487168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4444"/>
                </a:solidFill>
              </a:rPr>
              <a:t>₹48,200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4856" y="2871216"/>
            <a:ext cx="2359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8 requests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273552"/>
            <a:ext cx="11064240" cy="182880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336499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Creator Management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63931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Creator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363931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Handle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363931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Products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363931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Commission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63931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Featured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363931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Actions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877056"/>
            <a:ext cx="10881360" cy="310896"/>
          </a:xfrm>
          <a:prstGeom prst="rect">
            <a:avLst/>
          </a:prstGeom>
          <a:solidFill>
            <a:srgbClr val="10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1520" y="3904488"/>
            <a:ext cx="256032" cy="256032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39044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" y="3931920"/>
            <a:ext cx="1426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Ayush Anand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60320" y="393192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8BFA"/>
                </a:solidFill>
              </a:rPr>
              <a:t>@ayush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3360" y="393192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6 products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20640" y="3931920"/>
            <a:ext cx="640080" cy="219456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20640" y="3931920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20%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393192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⭐ Yes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06640" y="3931920"/>
            <a:ext cx="548640" cy="219456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1016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06640" y="393192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Edit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46719" y="3931920"/>
            <a:ext cx="640080" cy="219456"/>
          </a:xfrm>
          <a:prstGeom prst="roundRect">
            <a:avLst>
              <a:gd name="adj" fmla="val 8000"/>
            </a:avLst>
          </a:prstGeom>
          <a:solidFill>
            <a:srgbClr val="1A0404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19" y="3931920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F4444"/>
                </a:solidFill>
              </a:rPr>
              <a:t>Remove</a:t>
            </a:r>
          </a:p>
        </p:txBody>
      </p:sp>
      <p:sp>
        <p:nvSpPr>
          <p:cNvPr id="60" name="Oval 59"/>
          <p:cNvSpPr/>
          <p:nvPr/>
        </p:nvSpPr>
        <p:spPr>
          <a:xfrm>
            <a:off x="731520" y="4251960"/>
            <a:ext cx="256032" cy="256032"/>
          </a:xfrm>
          <a:prstGeom prst="ellipse">
            <a:avLst/>
          </a:prstGeom>
          <a:gradFill rotWithShape="1">
            <a:gsLst>
              <a:gs pos="0">
                <a:srgbClr val="EC4899"/>
              </a:gs>
              <a:gs pos="100000">
                <a:srgbClr val="F59E0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425196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4" y="4279392"/>
            <a:ext cx="1426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Priya Sharma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60320" y="427939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8BFA"/>
                </a:solidFill>
              </a:rPr>
              <a:t>@priya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23360" y="427939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4 products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120640" y="4279392"/>
            <a:ext cx="640080" cy="219456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20640" y="42793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15%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9360" y="427939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⭐ Yes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406640" y="4279392"/>
            <a:ext cx="548640" cy="219456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1016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06640" y="427939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Edit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46719" y="4279392"/>
            <a:ext cx="640080" cy="219456"/>
          </a:xfrm>
          <a:prstGeom prst="roundRect">
            <a:avLst>
              <a:gd name="adj" fmla="val 8000"/>
            </a:avLst>
          </a:prstGeom>
          <a:solidFill>
            <a:srgbClr val="1A0404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46719" y="42793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F4444"/>
                </a:solidFill>
              </a:rPr>
              <a:t>Remove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" y="4572000"/>
            <a:ext cx="10881360" cy="310896"/>
          </a:xfrm>
          <a:prstGeom prst="rect">
            <a:avLst/>
          </a:prstGeom>
          <a:solidFill>
            <a:srgbClr val="10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31520" y="4599432"/>
            <a:ext cx="256032" cy="256032"/>
          </a:xfrm>
          <a:prstGeom prst="ellipse">
            <a:avLst/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45994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" y="4626864"/>
            <a:ext cx="1426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Ravi Mehta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60320" y="46268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8BFA"/>
                </a:solidFill>
              </a:rPr>
              <a:t>@ravi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23360" y="462686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3 products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120640" y="4626864"/>
            <a:ext cx="640080" cy="219456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120640" y="462686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18%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9360" y="462686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—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406640" y="4626864"/>
            <a:ext cx="548640" cy="219456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10160">
            <a:solidFill>
              <a:srgbClr val="3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06640" y="462686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Edit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046719" y="4626864"/>
            <a:ext cx="640080" cy="219456"/>
          </a:xfrm>
          <a:prstGeom prst="roundRect">
            <a:avLst>
              <a:gd name="adj" fmla="val 8000"/>
            </a:avLst>
          </a:prstGeom>
          <a:solidFill>
            <a:srgbClr val="1A0404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46719" y="462686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F4444"/>
                </a:solidFill>
              </a:rPr>
              <a:t>Remove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5230368"/>
            <a:ext cx="11064240" cy="1389888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1520" y="532180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Pending Withdrawal Requests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31520" y="5632704"/>
            <a:ext cx="3474720" cy="749808"/>
          </a:xfrm>
          <a:prstGeom prst="roundRect">
            <a:avLst>
              <a:gd name="adj" fmla="val 8000"/>
            </a:avLst>
          </a:prstGeom>
          <a:solidFill>
            <a:srgbClr val="181000"/>
          </a:solidFill>
          <a:ln w="12700">
            <a:solidFill>
              <a:srgbClr val="60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68680" y="57058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Ayush Anand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" y="598017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UPI · Apr 13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0" y="579729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₹15,000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584448" y="5797296"/>
            <a:ext cx="457200" cy="256032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05804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584448" y="579729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389120" y="5632704"/>
            <a:ext cx="3474720" cy="749808"/>
          </a:xfrm>
          <a:prstGeom prst="roundRect">
            <a:avLst>
              <a:gd name="adj" fmla="val 8000"/>
            </a:avLst>
          </a:prstGeom>
          <a:solidFill>
            <a:srgbClr val="181000"/>
          </a:solidFill>
          <a:ln w="12700">
            <a:solidFill>
              <a:srgbClr val="60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26280" y="57058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Priya Sharma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26280" y="598017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Bank · Apr 12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00800" y="579729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₹8,500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242048" y="5797296"/>
            <a:ext cx="457200" cy="256032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05804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242048" y="579729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046720" y="5632704"/>
            <a:ext cx="3474720" cy="749808"/>
          </a:xfrm>
          <a:prstGeom prst="roundRect">
            <a:avLst>
              <a:gd name="adj" fmla="val 8000"/>
            </a:avLst>
          </a:prstGeom>
          <a:solidFill>
            <a:srgbClr val="181000"/>
          </a:solidFill>
          <a:ln w="12700">
            <a:solidFill>
              <a:srgbClr val="60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183880" y="57058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Ravi Mehta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183880" y="598017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IMPS · Apr 11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058400" y="579729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₹4,200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899648" y="5797296"/>
            <a:ext cx="457200" cy="256032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05804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899648" y="579729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743200" cy="292608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🔐  Security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Built Secure by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Security enforced at the database layer — not just the client. Zero trust by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55648"/>
            <a:ext cx="3566160" cy="1389888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47088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1865376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Row-Level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31136"/>
            <a:ext cx="32369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PostgreSQL RLS on every table. Creators only access their own data — enforced by the DB, not client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55648"/>
            <a:ext cx="3566160" cy="1389888"/>
          </a:xfrm>
          <a:prstGeom prst="roundRect">
            <a:avLst>
              <a:gd name="adj" fmla="val 8000"/>
            </a:avLst>
          </a:prstGeom>
          <a:solidFill>
            <a:srgbClr val="001A1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847088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1184" y="1865376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Atomic Commission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231136"/>
            <a:ext cx="32369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Single PostgreSQL stored procedure: commission deduction + creator wallet credit in one race-condition-safe transaction.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55648"/>
            <a:ext cx="3566160" cy="1389888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847088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0224" y="1865376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JWT Authentication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231136"/>
            <a:ext cx="32369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Supabase Auth issues signed JWTs. Edge Functions verify tokens server-side before any payment operation.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91840"/>
            <a:ext cx="3566160" cy="1389888"/>
          </a:xfrm>
          <a:prstGeom prst="roundRect">
            <a:avLst>
              <a:gd name="adj" fmla="val 8000"/>
            </a:avLst>
          </a:prstGeom>
          <a:solidFill>
            <a:srgbClr val="001A1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38328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340156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Secure Join Tokens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767328"/>
            <a:ext cx="32369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Webinar URLs generated server-side. Only verified purchasers within the join window receive valid tokens.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291840"/>
            <a:ext cx="3566160" cy="1389888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338328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01184" y="340156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Webhook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3767328"/>
            <a:ext cx="32369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Cashfree webhook signature validation prevents spoofed payment notifications.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291840"/>
            <a:ext cx="3566160" cy="1389888"/>
          </a:xfrm>
          <a:prstGeom prst="roundRect">
            <a:avLst>
              <a:gd name="adj" fmla="val 8000"/>
            </a:avLst>
          </a:prstGeom>
          <a:solidFill>
            <a:srgbClr val="001A1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338328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0224" y="340156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RBI-Compliant Payments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767328"/>
            <a:ext cx="32369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Cashfree is RBI-licensed. UPI, net banking, and card payments are fully regulated and compliant.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548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System Architecture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102352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00728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2669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🌐 Browser SPA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687568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React 18 · Vite · Tailwind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0672" y="560527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78BFA"/>
                </a:solidFill>
              </a:rPr>
              <a:t>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80" y="5102352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40" y="52669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▲ Vercel CDN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5687568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Global edge · Static 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5312" y="560527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78BFA"/>
                </a:solidFill>
              </a:rPr>
              <a:t>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102352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00140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2669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🐘 Supabase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687568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Auth · PostgreSQL · Storage · Edge Fns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59952" y="560527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78BFA"/>
                </a:solidFill>
              </a:rPr>
              <a:t>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52560" y="5102352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00101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9720" y="52669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💳 Cashfree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5687568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UPI · Cards · Net Banking · RBI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377440" cy="292608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2157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⚙️ 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Modern Cloud-Native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No custom backend — Supabase handles auth, database, storage, and serverless functions. Deployed on Vercel.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103120" cy="1600200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</a:rPr>
              <a:t>⚛️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React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163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Frontend SPA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1737360"/>
            <a:ext cx="2103120" cy="1600200"/>
          </a:xfrm>
          <a:prstGeom prst="roundRect">
            <a:avLst>
              <a:gd name="adj" fmla="val 8000"/>
            </a:avLst>
          </a:prstGeom>
          <a:solidFill>
            <a:srgbClr val="001028"/>
          </a:solidFill>
          <a:ln w="19050">
            <a:solidFill>
              <a:srgbClr val="31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1901952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178C6"/>
                </a:solidFill>
              </a:rPr>
              <a:t>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468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28163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Type Safety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85232" y="1737360"/>
            <a:ext cx="2103120" cy="1600200"/>
          </a:xfrm>
          <a:prstGeom prst="roundRect">
            <a:avLst>
              <a:gd name="adj" fmla="val 8000"/>
            </a:avLst>
          </a:prstGeom>
          <a:solidFill>
            <a:srgbClr val="18100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1901952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2468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Vite + SWC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28163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Build Tool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1737360"/>
            <a:ext cx="2103120" cy="1600200"/>
          </a:xfrm>
          <a:prstGeom prst="roundRect">
            <a:avLst>
              <a:gd name="adj" fmla="val 8000"/>
            </a:avLst>
          </a:prstGeom>
          <a:solidFill>
            <a:srgbClr val="001A2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8" y="1901952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TW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468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Tailwind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8163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Styling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30384" y="1737360"/>
            <a:ext cx="2103120" cy="1600200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30384" y="1901952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78BFA"/>
                </a:solidFill>
              </a:rP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0384" y="2468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Radix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0384" y="28163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Components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538728"/>
            <a:ext cx="2103120" cy="1600200"/>
          </a:xfrm>
          <a:prstGeom prst="roundRect">
            <a:avLst>
              <a:gd name="adj" fmla="val 8000"/>
            </a:avLst>
          </a:prstGeom>
          <a:solidFill>
            <a:srgbClr val="00140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703320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</a:rPr>
              <a:t>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2702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Supabase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617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BaaS Platform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62656" y="3538728"/>
            <a:ext cx="2103120" cy="1600200"/>
          </a:xfrm>
          <a:prstGeom prst="roundRect">
            <a:avLst>
              <a:gd name="adj" fmla="val 8000"/>
            </a:avLst>
          </a:prstGeom>
          <a:solidFill>
            <a:srgbClr val="000E18"/>
          </a:solidFill>
          <a:ln w="19050">
            <a:solidFill>
              <a:srgbClr val="336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62656" y="3703320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36B91"/>
                </a:solidFill>
              </a:rPr>
              <a:t>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62656" y="42702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PostgreSQL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2656" y="4617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DB + RLS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85232" y="3538728"/>
            <a:ext cx="2103120" cy="1600200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85232" y="3703320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5232" y="42702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85232" y="4617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Edge Functions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07808" y="3538728"/>
            <a:ext cx="2103120" cy="1600200"/>
          </a:xfrm>
          <a:prstGeom prst="roundRect">
            <a:avLst>
              <a:gd name="adj" fmla="val 8000"/>
            </a:avLst>
          </a:prstGeom>
          <a:solidFill>
            <a:srgbClr val="001410"/>
          </a:solidFill>
          <a:ln w="19050">
            <a:solidFill>
              <a:srgbClr val="0A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07808" y="3703320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AB08A"/>
                </a:solidFill>
              </a:rPr>
              <a:t>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7808" y="42702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Cashfree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7808" y="4617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Payments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30384" y="3538728"/>
            <a:ext cx="2103120" cy="1600200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30384" y="3703320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30384" y="42702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Vercel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30384" y="4617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Deployment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833872"/>
            <a:ext cx="11064240" cy="804672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9253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Database Schema Tables: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21792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8BFA"/>
                </a:solidFill>
              </a:rPr>
              <a:t>users  ·  wallets  ·  transactions  ·  products  ·  purchases  ·  clients  ·  visits  ·  featured_creators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914400"/>
            <a:ext cx="7315200" cy="5486400"/>
          </a:xfrm>
          <a:prstGeom prst="ellipse">
            <a:avLst/>
          </a:prstGeom>
          <a:solidFill>
            <a:srgbClr val="140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22876" y="914400"/>
            <a:ext cx="2743200" cy="292608"/>
          </a:xfrm>
          <a:prstGeom prst="roundRect">
            <a:avLst>
              <a:gd name="adj" fmla="val 8000"/>
            </a:avLst>
          </a:prstGeom>
          <a:solidFill>
            <a:srgbClr val="1A0D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32604" y="950976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🚀  Ready to Start?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Launch Your Creator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04288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A78BFA"/>
                </a:solidFill>
              </a:rPr>
              <a:t>Storefront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1546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Join hundreds of Indian creators selling digital products and webinars.
Your storefront is ready in under 2 minutes — no technical skills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3858768"/>
            <a:ext cx="2194560" cy="530352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3858768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Become a Creator 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858768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101018"/>
          </a:solidFill>
          <a:ln w="1905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3858768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Browse 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" y="4645152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" y="470001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78BFA"/>
                </a:solidFill>
              </a:rPr>
              <a:t>₹0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" y="52120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Setup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85516" y="4645152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5516" y="470001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78BFA"/>
                </a:solidFill>
              </a:rPr>
              <a:t>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5516" y="52120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Creator keeps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8636" y="4645152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8636" y="470001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78BFA"/>
                </a:solidFill>
              </a:rPr>
              <a:t>2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8636" y="52120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To launch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91756" y="4645152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91756" y="470001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78BFA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1756" y="52120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Product types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4876" y="4645152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13131A"/>
          </a:solidFill>
          <a:ln w="12700">
            <a:solidFill>
              <a:srgbClr val="281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4876" y="470001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A78BFA"/>
                </a:solidFill>
              </a:rPr>
              <a:t>INR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4876" y="52120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Local payments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447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Sellar — Creator Monetization Platform  ·  Built with React + Supabase + Cashfree  ·  Made in India 🇮🇳  ·  © 2026 Ayush Anand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